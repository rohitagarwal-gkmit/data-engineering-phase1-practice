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65795" y="1177379"/>
            <a:ext cx="30122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1500"/>
              </a:spcAft>
              <a:buNone/>
            </a:pPr>
            <a:r>
              <a:rPr lang="en-US" sz="10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ENGINEERING TRAINING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353526" y="1706910"/>
            <a:ext cx="443694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00"/>
              </a:lnSpc>
              <a:spcAft>
                <a:spcPts val="1200"/>
              </a:spcAft>
              <a:buNone/>
            </a:pPr>
            <a:r>
              <a:rPr lang="en-US" sz="3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Essentials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3032852" y="2507010"/>
            <a:ext cx="30782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300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Data Manipulation in Python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126959" y="3497610"/>
            <a:ext cx="432036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3126959" y="4015680"/>
            <a:ext cx="4320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926867" y="3497610"/>
            <a:ext cx="907033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926867" y="4015680"/>
            <a:ext cx="90703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OBJECTS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197940" y="3497610"/>
            <a:ext cx="822933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197940" y="4015680"/>
            <a:ext cx="82293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POSSIBILITIES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43815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Pandas?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962299"/>
            <a:ext cx="374244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library for data manipulation and analysis. Built on NumPy, it provides fast, flexible data structures designed for working with tabular and time series data.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381000" y="2800499"/>
            <a:ext cx="3669060" cy="727472"/>
          </a:xfrm>
          <a:prstGeom prst="roundRect">
            <a:avLst>
              <a:gd name="adj" fmla="val 5237"/>
            </a:avLst>
          </a:prstGeom>
          <a:solidFill>
            <a:srgbClr val="0206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95288" y="2800499"/>
            <a:ext cx="0" cy="727472"/>
          </a:xfrm>
          <a:prstGeom prst="line">
            <a:avLst/>
          </a:prstGeom>
          <a:noFill/>
          <a:ln w="28575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1975" y="2952899"/>
            <a:ext cx="340239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61975" y="3202335"/>
            <a:ext cx="340239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standard convention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81000" y="3756571"/>
            <a:ext cx="374244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strengths: Data cleaning, transformation, aggregation, visualization integration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78660" y="1631900"/>
            <a:ext cx="45740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CORE DATA STRUCTURES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278660" y="1892796"/>
            <a:ext cx="4484340" cy="1199852"/>
          </a:xfrm>
          <a:prstGeom prst="roundRect">
            <a:avLst>
              <a:gd name="adj" fmla="val 476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31060" y="2045196"/>
            <a:ext cx="426313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31060" y="2334667"/>
            <a:ext cx="42631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1-dimensional labeled array. Like a single column with an index.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431060" y="2603153"/>
            <a:ext cx="4179540" cy="337096"/>
          </a:xfrm>
          <a:prstGeom prst="roundRect">
            <a:avLst>
              <a:gd name="adj" fmla="val 11302"/>
            </a:avLst>
          </a:prstGeom>
          <a:solidFill>
            <a:srgbClr val="0206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26310" y="2698403"/>
            <a:ext cx="40688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pd.Series([10, 20, 30])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278660" y="3206948"/>
            <a:ext cx="4484340" cy="1199852"/>
          </a:xfrm>
          <a:prstGeom prst="roundRect">
            <a:avLst>
              <a:gd name="adj" fmla="val 476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431060" y="3359348"/>
            <a:ext cx="426313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DataFrame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31060" y="3648819"/>
            <a:ext cx="42631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2-dimensional labeled table. Like a spreadsheet or SQL table.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431060" y="3917305"/>
            <a:ext cx="4179540" cy="337096"/>
          </a:xfrm>
          <a:prstGeom prst="roundRect">
            <a:avLst>
              <a:gd name="adj" fmla="val 11302"/>
            </a:avLst>
          </a:prstGeom>
          <a:solidFill>
            <a:srgbClr val="0206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26310" y="4012555"/>
            <a:ext cx="40688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pd.DataFrame({'A': [1,2], 'B': [3,4]})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43815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Basics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681311"/>
            <a:ext cx="41582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 SERIES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381000" y="1942207"/>
            <a:ext cx="4076700" cy="1588591"/>
          </a:xfrm>
          <a:prstGeom prst="roundRect">
            <a:avLst>
              <a:gd name="adj" fmla="val 3598"/>
            </a:avLst>
          </a:prstGeom>
          <a:solidFill>
            <a:srgbClr val="0206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95288" y="1942207"/>
            <a:ext cx="0" cy="1588591"/>
          </a:xfrm>
          <a:prstGeom prst="line">
            <a:avLst/>
          </a:prstGeom>
          <a:noFill/>
          <a:ln w="28575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2925" y="2075557"/>
            <a:ext cx="38570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From list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2925" y="2292697"/>
            <a:ext cx="38570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pd.Series([10, 20, 30])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2925" y="2547938"/>
            <a:ext cx="38570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With custom index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2925" y="2765078"/>
            <a:ext cx="38570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pd.Series([10, 20], index=['a','b'])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2925" y="3020318"/>
            <a:ext cx="38570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From dictionary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2925" y="3237458"/>
            <a:ext cx="38570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pd.Series({'x': 1, 'y': 2})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1000" y="3721298"/>
            <a:ext cx="41582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ATTRIBUTES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81000" y="3982194"/>
            <a:ext cx="4076700" cy="375196"/>
          </a:xfrm>
          <a:prstGeom prst="roundRect">
            <a:avLst>
              <a:gd name="adj" fmla="val 1523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5300" y="4096494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s.values  s.index  s.dtype  s.shape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686300" y="1494830"/>
            <a:ext cx="41582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OPERATIONS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686300" y="1755725"/>
            <a:ext cx="4076700" cy="853232"/>
          </a:xfrm>
          <a:prstGeom prst="roundRect">
            <a:avLst>
              <a:gd name="adj" fmla="val 669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19650" y="1889075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Indexing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819650" y="2138511"/>
            <a:ext cx="3810000" cy="337096"/>
          </a:xfrm>
          <a:prstGeom prst="roundRect">
            <a:avLst>
              <a:gd name="adj" fmla="val 11302"/>
            </a:avLst>
          </a:prstGeom>
          <a:solidFill>
            <a:srgbClr val="0206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14900" y="2233761"/>
            <a:ext cx="36918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s[0]  s['a']  s[0:2]  s[s &gt; 15]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686300" y="2723257"/>
            <a:ext cx="4076700" cy="853232"/>
          </a:xfrm>
          <a:prstGeom prst="roundRect">
            <a:avLst>
              <a:gd name="adj" fmla="val 669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19650" y="2856607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Operations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819650" y="3106043"/>
            <a:ext cx="3810000" cy="337096"/>
          </a:xfrm>
          <a:prstGeom prst="roundRect">
            <a:avLst>
              <a:gd name="adj" fmla="val 11302"/>
            </a:avLst>
          </a:prstGeom>
          <a:solidFill>
            <a:srgbClr val="0206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14900" y="3201293"/>
            <a:ext cx="36918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+ 10  s * 2  s.sum()  s.mean()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686300" y="3690789"/>
            <a:ext cx="4076700" cy="853232"/>
          </a:xfrm>
          <a:prstGeom prst="roundRect">
            <a:avLst>
              <a:gd name="adj" fmla="val 669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19650" y="3824139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Methods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4819650" y="4073575"/>
            <a:ext cx="3810000" cy="337096"/>
          </a:xfrm>
          <a:prstGeom prst="roundRect">
            <a:avLst>
              <a:gd name="adj" fmla="val 11302"/>
            </a:avLst>
          </a:prstGeom>
          <a:solidFill>
            <a:srgbClr val="0206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14900" y="4168825"/>
            <a:ext cx="36918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s.describe()  s.unique()  s.value_counts()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43815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DataFrame Fundamentals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641574"/>
            <a:ext cx="40105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DATAFRAMES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381000" y="1883420"/>
            <a:ext cx="3931890" cy="1374874"/>
          </a:xfrm>
          <a:prstGeom prst="roundRect">
            <a:avLst>
              <a:gd name="adj" fmla="val 4157"/>
            </a:avLst>
          </a:prstGeom>
          <a:solidFill>
            <a:srgbClr val="0206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95288" y="1883420"/>
            <a:ext cx="0" cy="1374874"/>
          </a:xfrm>
          <a:prstGeom prst="line">
            <a:avLst/>
          </a:prstGeom>
          <a:noFill/>
          <a:ln w="28575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3875" y="1997720"/>
            <a:ext cx="37482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From dictionary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23875" y="2182416"/>
            <a:ext cx="37482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pd.DataFrame({'A':[1,2], 'B':[3,4]})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23875" y="2405211"/>
            <a:ext cx="37482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From CSV file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523875" y="2589907"/>
            <a:ext cx="37482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pd.read_csv('data.csv')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23875" y="2812703"/>
            <a:ext cx="37482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From Excel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23875" y="2997398"/>
            <a:ext cx="37482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pd.read_excel('data.xlsx')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81000" y="3410694"/>
            <a:ext cx="40105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METHODS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81000" y="3652540"/>
            <a:ext cx="3931890" cy="744587"/>
          </a:xfrm>
          <a:prstGeom prst="roundRect">
            <a:avLst>
              <a:gd name="adj" fmla="val 76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5300" y="3766840"/>
            <a:ext cx="37773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    df.tail()    df.sample()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95300" y="3951536"/>
            <a:ext cx="37773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    df.describe()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95300" y="4136231"/>
            <a:ext cx="37773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     df.columns   df.dtypes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503390" y="1590973"/>
            <a:ext cx="43448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DATAFRAME STRUCTURE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503390" y="1832818"/>
            <a:ext cx="4259610" cy="744736"/>
          </a:xfrm>
          <a:prstGeom prst="roundRect">
            <a:avLst>
              <a:gd name="adj" fmla="val 767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636740" y="1966168"/>
            <a:ext cx="464195" cy="222796"/>
          </a:xfrm>
          <a:prstGeom prst="roundRect">
            <a:avLst>
              <a:gd name="adj" fmla="val 17101"/>
            </a:avLst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31990" y="2004268"/>
            <a:ext cx="2791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5215235" y="1966168"/>
            <a:ext cx="644872" cy="222796"/>
          </a:xfrm>
          <a:prstGeom prst="roundRect">
            <a:avLst>
              <a:gd name="adj" fmla="val 17101"/>
            </a:avLst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310485" y="2004268"/>
            <a:ext cx="46346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A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5974407" y="1966168"/>
            <a:ext cx="650528" cy="222796"/>
          </a:xfrm>
          <a:prstGeom prst="roundRect">
            <a:avLst>
              <a:gd name="adj" fmla="val 17101"/>
            </a:avLst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069657" y="2004268"/>
            <a:ext cx="4692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B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636740" y="2284214"/>
            <a:ext cx="40727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column is a Series. Rows share an index.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03390" y="2729954"/>
            <a:ext cx="43448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 DATA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503390" y="2971800"/>
            <a:ext cx="4259610" cy="744587"/>
          </a:xfrm>
          <a:prstGeom prst="roundRect">
            <a:avLst>
              <a:gd name="adj" fmla="val 7675"/>
            </a:avLst>
          </a:prstGeom>
          <a:solidFill>
            <a:srgbClr val="0206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617690" y="3086100"/>
            <a:ext cx="41116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df.to_csv('output.csv', index=False)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617690" y="3270796"/>
            <a:ext cx="41116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df.to_excel('output.xlsx')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4617690" y="3455491"/>
            <a:ext cx="41116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df.to_parquet('output.parquet')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4503390" y="3868787"/>
            <a:ext cx="43448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OPERATIONS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4503390" y="4110633"/>
            <a:ext cx="4259610" cy="337096"/>
          </a:xfrm>
          <a:prstGeom prst="roundRect">
            <a:avLst>
              <a:gd name="adj" fmla="val 1695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598640" y="4205883"/>
            <a:ext cx="41504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df['col']  df.drop('col')  df.rename()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43815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Selection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377702"/>
            <a:ext cx="4095750" cy="1584573"/>
          </a:xfrm>
          <a:prstGeom prst="roundRect">
            <a:avLst>
              <a:gd name="adj" fmla="val 360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1391989"/>
            <a:ext cx="4095750" cy="0"/>
          </a:xfrm>
          <a:prstGeom prst="line">
            <a:avLst/>
          </a:prstGeom>
          <a:noFill/>
          <a:ln w="28575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3400" y="1558677"/>
            <a:ext cx="386676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.loc[ ] — Label-based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3400" y="1848148"/>
            <a:ext cx="38667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by row/column labels (names)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3400" y="2103388"/>
            <a:ext cx="3790950" cy="706487"/>
          </a:xfrm>
          <a:prstGeom prst="roundRect">
            <a:avLst>
              <a:gd name="adj" fmla="val 5393"/>
            </a:avLst>
          </a:prstGeom>
          <a:solidFill>
            <a:srgbClr val="0206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8650" y="2198638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df.loc['row1']           # single row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628650" y="2383334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df.loc['a':'c']          # row range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628650" y="2568029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df.loc['a', 'col1']      # cell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667250" y="1377702"/>
            <a:ext cx="4095750" cy="1584573"/>
          </a:xfrm>
          <a:prstGeom prst="roundRect">
            <a:avLst>
              <a:gd name="adj" fmla="val 360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667250" y="1391989"/>
            <a:ext cx="4095750" cy="0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9650" y="1558677"/>
            <a:ext cx="386676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.iloc[ ] — Position-based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19650" y="1848148"/>
            <a:ext cx="38667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by integer position (0-indexed)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19650" y="2103388"/>
            <a:ext cx="3790950" cy="706487"/>
          </a:xfrm>
          <a:prstGeom prst="roundRect">
            <a:avLst>
              <a:gd name="adj" fmla="val 5393"/>
            </a:avLst>
          </a:prstGeom>
          <a:solidFill>
            <a:srgbClr val="0206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14900" y="2198638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df.iloc[0]               # first row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914900" y="2383334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df.iloc[0:3]             # rows 0-2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914900" y="2568029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df.iloc[0, 1]            # cell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381000" y="3076575"/>
            <a:ext cx="4095750" cy="1584573"/>
          </a:xfrm>
          <a:prstGeom prst="roundRect">
            <a:avLst>
              <a:gd name="adj" fmla="val 360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81000" y="3090863"/>
            <a:ext cx="4095750" cy="0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3400" y="3257550"/>
            <a:ext cx="386676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Boolean Filtering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3400" y="3547021"/>
            <a:ext cx="38667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rows based on conditions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3400" y="3802261"/>
            <a:ext cx="3790950" cy="706487"/>
          </a:xfrm>
          <a:prstGeom prst="roundRect">
            <a:avLst>
              <a:gd name="adj" fmla="val 5393"/>
            </a:avLst>
          </a:prstGeom>
          <a:solidFill>
            <a:srgbClr val="0206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28650" y="3897511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df[df['age'] &gt; 25]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628650" y="4082207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df[(df['a'] &gt; 5) &amp; (df['b'] &lt; 10)]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628650" y="4266902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df[df['city'].isin(['NY','LA'])]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667250" y="3076575"/>
            <a:ext cx="4095750" cy="1584573"/>
          </a:xfrm>
          <a:prstGeom prst="roundRect">
            <a:avLst>
              <a:gd name="adj" fmla="val 360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667250" y="3090863"/>
            <a:ext cx="4095750" cy="0"/>
          </a:xfrm>
          <a:prstGeom prst="line">
            <a:avLst/>
          </a:prstGeom>
          <a:noFill/>
          <a:ln w="28575">
            <a:solidFill>
              <a:srgbClr val="EC48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9650" y="3257550"/>
            <a:ext cx="386676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Column Access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19650" y="3547021"/>
            <a:ext cx="38667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columns directly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19650" y="3802261"/>
            <a:ext cx="3790950" cy="706487"/>
          </a:xfrm>
          <a:prstGeom prst="roundRect">
            <a:avLst>
              <a:gd name="adj" fmla="val 5393"/>
            </a:avLst>
          </a:prstGeom>
          <a:solidFill>
            <a:srgbClr val="0206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914900" y="3897511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df['column']             # single col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4914900" y="4082207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df[['col1', 'col2']]     # multi cols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4914900" y="4266902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df.column                # dot notation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43815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GroupBy Operations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2009924"/>
            <a:ext cx="374244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SPLIT-APPLY-COMBINE PATTERN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381000" y="2289870"/>
            <a:ext cx="685056" cy="489496"/>
          </a:xfrm>
          <a:prstGeom prst="roundRect">
            <a:avLst>
              <a:gd name="adj" fmla="val 11675"/>
            </a:avLst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0166" y="2385120"/>
            <a:ext cx="42672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10166" y="2550765"/>
            <a:ext cx="4267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groups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42256" y="2414588"/>
            <a:ext cx="1748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389906" y="2289870"/>
            <a:ext cx="606475" cy="489496"/>
          </a:xfrm>
          <a:prstGeom prst="roundRect">
            <a:avLst>
              <a:gd name="adj" fmla="val 11675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519858" y="2385120"/>
            <a:ext cx="3465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1519858" y="2550765"/>
            <a:ext cx="3465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072580" y="2414588"/>
            <a:ext cx="1748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320230" y="2289870"/>
            <a:ext cx="761554" cy="489496"/>
          </a:xfrm>
          <a:prstGeom prst="roundRect">
            <a:avLst>
              <a:gd name="adj" fmla="val 11675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448632" y="2385120"/>
            <a:ext cx="5047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2448632" y="2550765"/>
            <a:ext cx="5047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81000" y="2912715"/>
            <a:ext cx="3669060" cy="1116211"/>
          </a:xfrm>
          <a:prstGeom prst="roundRect">
            <a:avLst>
              <a:gd name="adj" fmla="val 5120"/>
            </a:avLst>
          </a:prstGeom>
          <a:solidFill>
            <a:srgbClr val="0206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95288" y="2912715"/>
            <a:ext cx="0" cy="1116211"/>
          </a:xfrm>
          <a:prstGeom prst="line">
            <a:avLst/>
          </a:prstGeom>
          <a:noFill/>
          <a:ln w="28575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2925" y="3046065"/>
            <a:ext cx="34412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Basic groupby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2925" y="3263205"/>
            <a:ext cx="34412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df.groupby('category')['sales'].sum()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2925" y="3518446"/>
            <a:ext cx="34412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Multiple columns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2925" y="3735586"/>
            <a:ext cx="34412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df.groupby(['region', 'year']).mean()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278660" y="1690092"/>
            <a:ext cx="45740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AGGREGATION FUNCTIONS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278660" y="1950988"/>
            <a:ext cx="4484340" cy="1017091"/>
          </a:xfrm>
          <a:prstGeom prst="roundRect">
            <a:avLst>
              <a:gd name="adj" fmla="val 561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412010" y="2084338"/>
            <a:ext cx="605879" cy="298996"/>
          </a:xfrm>
          <a:prstGeom prst="roundRect">
            <a:avLst>
              <a:gd name="adj" fmla="val 12743"/>
            </a:avLst>
          </a:prstGeom>
          <a:solidFill>
            <a:srgbClr val="0206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526310" y="2160538"/>
            <a:ext cx="38482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.sum()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5170289" y="2084338"/>
            <a:ext cx="668834" cy="298996"/>
          </a:xfrm>
          <a:prstGeom prst="roundRect">
            <a:avLst>
              <a:gd name="adj" fmla="val 12743"/>
            </a:avLst>
          </a:prstGeom>
          <a:solidFill>
            <a:srgbClr val="0206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284589" y="2160538"/>
            <a:ext cx="4490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.mean()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5991523" y="2084338"/>
            <a:ext cx="731639" cy="298996"/>
          </a:xfrm>
          <a:prstGeom prst="roundRect">
            <a:avLst>
              <a:gd name="adj" fmla="val 12743"/>
            </a:avLst>
          </a:prstGeom>
          <a:solidFill>
            <a:srgbClr val="0206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105823" y="2160538"/>
            <a:ext cx="5131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.count()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6875562" y="2084338"/>
            <a:ext cx="605879" cy="298996"/>
          </a:xfrm>
          <a:prstGeom prst="roundRect">
            <a:avLst>
              <a:gd name="adj" fmla="val 12743"/>
            </a:avLst>
          </a:prstGeom>
          <a:solidFill>
            <a:srgbClr val="0206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989862" y="2160538"/>
            <a:ext cx="38482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.min()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7633841" y="2084338"/>
            <a:ext cx="605879" cy="298996"/>
          </a:xfrm>
          <a:prstGeom prst="roundRect">
            <a:avLst>
              <a:gd name="adj" fmla="val 12743"/>
            </a:avLst>
          </a:prstGeom>
          <a:solidFill>
            <a:srgbClr val="0206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748141" y="2160538"/>
            <a:ext cx="38482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.max()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4412010" y="2535734"/>
            <a:ext cx="605879" cy="298996"/>
          </a:xfrm>
          <a:prstGeom prst="roundRect">
            <a:avLst>
              <a:gd name="adj" fmla="val 12743"/>
            </a:avLst>
          </a:prstGeom>
          <a:solidFill>
            <a:srgbClr val="0206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526310" y="2611934"/>
            <a:ext cx="38482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.std()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4278660" y="3120479"/>
            <a:ext cx="45740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ADVANCED: .agg()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4278660" y="3381375"/>
            <a:ext cx="4484340" cy="967383"/>
          </a:xfrm>
          <a:prstGeom prst="roundRect">
            <a:avLst>
              <a:gd name="adj" fmla="val 5908"/>
            </a:avLst>
          </a:prstGeom>
          <a:solidFill>
            <a:srgbClr val="0206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392960" y="3495675"/>
            <a:ext cx="43408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Multiple aggregations at once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4392960" y="3680371"/>
            <a:ext cx="43408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df.groupby('cat').agg({'a':'sum','b':'mean'})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4392960" y="3903166"/>
            <a:ext cx="43408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Named aggregations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4392960" y="4087862"/>
            <a:ext cx="43408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df.groupby('cat').agg(total=('a','sum'))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43815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Merging &amp; Joining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752898"/>
            <a:ext cx="2009775" cy="586532"/>
          </a:xfrm>
          <a:prstGeom prst="roundRect">
            <a:avLst>
              <a:gd name="adj" fmla="val 974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95288" y="1752898"/>
            <a:ext cx="0" cy="586532"/>
          </a:xfrm>
          <a:prstGeom prst="line">
            <a:avLst/>
          </a:prstGeom>
          <a:noFill/>
          <a:ln w="28575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3875" y="1867198"/>
            <a:ext cx="178765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23875" y="2078534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matching keys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2505075" y="1752898"/>
            <a:ext cx="2009775" cy="586532"/>
          </a:xfrm>
          <a:prstGeom prst="roundRect">
            <a:avLst>
              <a:gd name="adj" fmla="val 974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519363" y="1752898"/>
            <a:ext cx="0" cy="586532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47950" y="1867198"/>
            <a:ext cx="178765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2647950" y="2078534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left + matching right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629150" y="1752898"/>
            <a:ext cx="2009775" cy="586532"/>
          </a:xfrm>
          <a:prstGeom prst="roundRect">
            <a:avLst>
              <a:gd name="adj" fmla="val 974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643438" y="1752898"/>
            <a:ext cx="0" cy="586532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2025" y="1867198"/>
            <a:ext cx="178765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772025" y="2078534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 + matching left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6753225" y="1752898"/>
            <a:ext cx="2009775" cy="586532"/>
          </a:xfrm>
          <a:prstGeom prst="roundRect">
            <a:avLst>
              <a:gd name="adj" fmla="val 974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767513" y="1752898"/>
            <a:ext cx="0" cy="586532"/>
          </a:xfrm>
          <a:prstGeom prst="line">
            <a:avLst/>
          </a:prstGeom>
          <a:noFill/>
          <a:ln w="28575">
            <a:solidFill>
              <a:srgbClr val="EC48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96100" y="1867198"/>
            <a:ext cx="178765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outer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6896100" y="2078534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keys from both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381000" y="2453729"/>
            <a:ext cx="41776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pd.merge() SYNTAX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381000" y="2695575"/>
            <a:ext cx="4095750" cy="858887"/>
          </a:xfrm>
          <a:prstGeom prst="roundRect">
            <a:avLst>
              <a:gd name="adj" fmla="val 6654"/>
            </a:avLst>
          </a:prstGeom>
          <a:solidFill>
            <a:srgbClr val="0206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95288" y="2695575"/>
            <a:ext cx="0" cy="858887"/>
          </a:xfrm>
          <a:prstGeom prst="line">
            <a:avLst/>
          </a:prstGeom>
          <a:noFill/>
          <a:ln w="28575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2925" y="2828925"/>
            <a:ext cx="38764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pd.merge(df1, df2, on='key')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542925" y="3051721"/>
            <a:ext cx="38764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pd.merge(df1, df2, how='left')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542925" y="3274516"/>
            <a:ext cx="38764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pd.merge(df1, df2, left_on='a', right_on='b')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667250" y="2472779"/>
            <a:ext cx="41776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COMBINING METHODS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667250" y="2714625"/>
            <a:ext cx="4095750" cy="820787"/>
          </a:xfrm>
          <a:prstGeom prst="roundRect">
            <a:avLst>
              <a:gd name="adj" fmla="val 696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00600" y="2847975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pd.concat([df1, df2])       # stack rows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800600" y="3051721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pd.concat([df1,df2], axis=1)# side by side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800600" y="3255466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df1.join(df2, on='key')     # index-based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381000" y="3668762"/>
            <a:ext cx="8382000" cy="617041"/>
          </a:xfrm>
          <a:prstGeom prst="roundRect">
            <a:avLst>
              <a:gd name="adj" fmla="val 9262"/>
            </a:avLst>
          </a:prstGeom>
          <a:solidFill>
            <a:srgbClr val="0206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14350" y="3802112"/>
            <a:ext cx="82776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Real-world example: Join orders with customers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514350" y="4005858"/>
            <a:ext cx="82776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pd.merge(orders, customers, on='customer_id', how='left')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438150"/>
            <a:ext cx="442055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 &amp; DateTime Operations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752005"/>
            <a:ext cx="1046857" cy="325636"/>
          </a:xfrm>
          <a:prstGeom prst="roundRect">
            <a:avLst>
              <a:gd name="adj" fmla="val 17550"/>
            </a:avLst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1828205"/>
            <a:ext cx="79576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.str Accessor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381000" y="2191941"/>
            <a:ext cx="415823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Vectorized string operations on Series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2466231"/>
            <a:ext cx="4076700" cy="1820466"/>
          </a:xfrm>
          <a:prstGeom prst="roundRect">
            <a:avLst>
              <a:gd name="adj" fmla="val 3139"/>
            </a:avLst>
          </a:prstGeom>
          <a:solidFill>
            <a:srgbClr val="0206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2599581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Case operations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14350" y="2784277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df['name'].str.lower()  .upper()  .title()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514350" y="3007072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Search &amp; replace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14350" y="3191768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df['col'].str.contains('pattern')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14350" y="3414564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df['col'].str.replace('old', 'new')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14350" y="3637359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Extract &amp; split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14350" y="3822055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df['col'].str.split(',')  .strip()  .len()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14350" y="4006751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df['col'].str.extract(r'(\d+)')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686300" y="1771055"/>
            <a:ext cx="1005483" cy="325636"/>
          </a:xfrm>
          <a:prstGeom prst="roundRect">
            <a:avLst>
              <a:gd name="adj" fmla="val 1755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19650" y="1847255"/>
            <a:ext cx="75355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.dt Accessor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686300" y="2210991"/>
            <a:ext cx="415823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datetime components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86300" y="2485281"/>
            <a:ext cx="4076700" cy="1782366"/>
          </a:xfrm>
          <a:prstGeom prst="roundRect">
            <a:avLst>
              <a:gd name="adj" fmla="val 3206"/>
            </a:avLst>
          </a:prstGeom>
          <a:solidFill>
            <a:srgbClr val="0206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19650" y="2618631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Convert to datetime first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819650" y="2803327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df['date'] = pd.to_datetime(df['date'])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819650" y="3026122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Extract components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819650" y="3210818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df['date'].dt.year  .month  .day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819650" y="3395514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df['date'].dt.hour  .minute  .second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819650" y="3580209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df['date'].dt.dayofweek  .quarter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819650" y="3803005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Date ranges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819650" y="3987701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pd.date_range('2024-01', periods=12, freq='M')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43815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Visualization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657796"/>
            <a:ext cx="41582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.plot() METHOD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381000" y="1918692"/>
            <a:ext cx="4076700" cy="1451074"/>
          </a:xfrm>
          <a:prstGeom prst="roundRect">
            <a:avLst>
              <a:gd name="adj" fmla="val 3938"/>
            </a:avLst>
          </a:prstGeom>
          <a:solidFill>
            <a:srgbClr val="0206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95288" y="1918692"/>
            <a:ext cx="0" cy="1451074"/>
          </a:xfrm>
          <a:prstGeom prst="line">
            <a:avLst/>
          </a:prstGeom>
          <a:noFill/>
          <a:ln w="28575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2925" y="2052042"/>
            <a:ext cx="38570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Import matplotlib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42925" y="2236738"/>
            <a:ext cx="38570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42925" y="2478584"/>
            <a:ext cx="38570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Basic line plot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542925" y="2663279"/>
            <a:ext cx="38570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df['sales'].plot()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42925" y="2905125"/>
            <a:ext cx="38570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Show the plot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42925" y="3089821"/>
            <a:ext cx="38570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81000" y="3560266"/>
            <a:ext cx="41582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CUSTOMIZATION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81000" y="3821162"/>
            <a:ext cx="4076700" cy="559891"/>
          </a:xfrm>
          <a:prstGeom prst="roundRect">
            <a:avLst>
              <a:gd name="adj" fmla="val 1020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5300" y="3935462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df.plot(title='My Chart', figsize=(10,6))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95300" y="4120158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df.plot(color='red', linewidth=2)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686300" y="1777454"/>
            <a:ext cx="41582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PLOT TYPES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686300" y="2019300"/>
            <a:ext cx="1295400" cy="85725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89932" y="2133600"/>
            <a:ext cx="10881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89932" y="2457450"/>
            <a:ext cx="10881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kind='line'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789932" y="2628900"/>
            <a:ext cx="10881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076950" y="2019300"/>
            <a:ext cx="1295400" cy="85725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180582" y="2133600"/>
            <a:ext cx="10881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180582" y="2457450"/>
            <a:ext cx="10881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kind='bar'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180582" y="2628900"/>
            <a:ext cx="10881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467600" y="2019300"/>
            <a:ext cx="1295400" cy="85725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571232" y="2133600"/>
            <a:ext cx="10881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🥧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571232" y="2457450"/>
            <a:ext cx="10881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kind='pie'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571232" y="2628900"/>
            <a:ext cx="10881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686300" y="2971800"/>
            <a:ext cx="1295400" cy="85725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789932" y="3086100"/>
            <a:ext cx="10881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789932" y="3409950"/>
            <a:ext cx="10881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kind='hist'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789932" y="3581400"/>
            <a:ext cx="10881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076950" y="2971800"/>
            <a:ext cx="1295400" cy="85725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80582" y="3086100"/>
            <a:ext cx="10881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⬡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180582" y="3409950"/>
            <a:ext cx="10881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kind='scatter'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180582" y="3581400"/>
            <a:ext cx="10881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467600" y="2971800"/>
            <a:ext cx="1295400" cy="85725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571232" y="3086100"/>
            <a:ext cx="10881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571232" y="3409950"/>
            <a:ext cx="10881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kind='box'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571232" y="3581400"/>
            <a:ext cx="10881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686300" y="3924300"/>
            <a:ext cx="4076700" cy="337096"/>
          </a:xfrm>
          <a:prstGeom prst="roundRect">
            <a:avLst>
              <a:gd name="adj" fmla="val 16954"/>
            </a:avLst>
          </a:prstGeom>
          <a:solidFill>
            <a:srgbClr val="0206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781550" y="4019550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df.plot(kind='bar', x='category', y='value')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43815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328142"/>
            <a:ext cx="2682180" cy="1306413"/>
          </a:xfrm>
          <a:prstGeom prst="roundRect">
            <a:avLst>
              <a:gd name="adj" fmla="val 583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1342430"/>
            <a:ext cx="2682180" cy="0"/>
          </a:xfrm>
          <a:prstGeom prst="line">
            <a:avLst/>
          </a:prstGeom>
          <a:noFill/>
          <a:ln w="28575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3400" y="1509117"/>
            <a:ext cx="2424928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33400" y="1958578"/>
            <a:ext cx="242492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Core Objects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33400" y="2188964"/>
            <a:ext cx="242492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(1D) and DataFrame (2D) are the foundation of all Pandas operations.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215580" y="1328142"/>
            <a:ext cx="2682180" cy="1306413"/>
          </a:xfrm>
          <a:prstGeom prst="roundRect">
            <a:avLst>
              <a:gd name="adj" fmla="val 583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15580" y="1342430"/>
            <a:ext cx="2682180" cy="0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7980" y="1509117"/>
            <a:ext cx="2424928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367980" y="1958578"/>
            <a:ext cx="242492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 vs iloc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3367980" y="2188964"/>
            <a:ext cx="242492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.loc for labels, .iloc for positions. Master these for efficient data access.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6050161" y="1328142"/>
            <a:ext cx="2682180" cy="1306413"/>
          </a:xfrm>
          <a:prstGeom prst="roundRect">
            <a:avLst>
              <a:gd name="adj" fmla="val 583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50161" y="1342430"/>
            <a:ext cx="2682180" cy="0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02561" y="1509117"/>
            <a:ext cx="2424928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202561" y="1958578"/>
            <a:ext cx="242492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GroupBy Power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6202561" y="2188964"/>
            <a:ext cx="242492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Split-Apply-Combine pattern handles most aggregation needs elegantly.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381000" y="2767905"/>
            <a:ext cx="2682180" cy="1306413"/>
          </a:xfrm>
          <a:prstGeom prst="roundRect">
            <a:avLst>
              <a:gd name="adj" fmla="val 583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81000" y="2782193"/>
            <a:ext cx="2682180" cy="0"/>
          </a:xfrm>
          <a:prstGeom prst="line">
            <a:avLst/>
          </a:prstGeom>
          <a:noFill/>
          <a:ln w="28575">
            <a:solidFill>
              <a:srgbClr val="EC48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3400" y="2948880"/>
            <a:ext cx="2424928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533400" y="3398341"/>
            <a:ext cx="242492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Wisely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533400" y="3628727"/>
            <a:ext cx="242492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your join types: inner, left, right, outer for combining DataFrames.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3215580" y="2767905"/>
            <a:ext cx="2682180" cy="1306413"/>
          </a:xfrm>
          <a:prstGeom prst="roundRect">
            <a:avLst>
              <a:gd name="adj" fmla="val 583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215580" y="2782193"/>
            <a:ext cx="2682180" cy="0"/>
          </a:xfrm>
          <a:prstGeom prst="line">
            <a:avLst/>
          </a:prstGeom>
          <a:noFill/>
          <a:ln w="28575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7980" y="2948880"/>
            <a:ext cx="2424928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3367980" y="3398341"/>
            <a:ext cx="242492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Accessors Rule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3367980" y="3628727"/>
            <a:ext cx="242492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.str and .dt accessors make string and datetime operations vectorized and fast.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6050161" y="2767905"/>
            <a:ext cx="2682180" cy="1306413"/>
          </a:xfrm>
          <a:prstGeom prst="roundRect">
            <a:avLst>
              <a:gd name="adj" fmla="val 583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050161" y="2782193"/>
            <a:ext cx="2682180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02561" y="2948880"/>
            <a:ext cx="2424928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6202561" y="3398341"/>
            <a:ext cx="242492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Daily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6202561" y="3628727"/>
            <a:ext cx="242492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with real datasets. The Jupyter notebook has hands-on exercises.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381000" y="4283869"/>
            <a:ext cx="8382000" cy="426690"/>
          </a:xfrm>
          <a:prstGeom prst="roundRect">
            <a:avLst>
              <a:gd name="adj" fmla="val 13394"/>
            </a:avLst>
          </a:prstGeom>
          <a:solidFill>
            <a:srgbClr val="0206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71500" y="4417219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 the Pandas_Python_Lab.ipynb notebook and complete the exercises!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Pandas Essentials</dc:title>
  <dc:subject>PptxGenJS Presentation</dc:subject>
  <dc:creator>Data Engineering Team</dc:creator>
  <cp:lastModifiedBy>Data Engineering Team</cp:lastModifiedBy>
  <cp:revision>1</cp:revision>
  <dcterms:created xsi:type="dcterms:W3CDTF">2025-12-11T17:48:32Z</dcterms:created>
  <dcterms:modified xsi:type="dcterms:W3CDTF">2025-12-11T17:48:32Z</dcterms:modified>
</cp:coreProperties>
</file>